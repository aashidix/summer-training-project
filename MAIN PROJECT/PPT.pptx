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Saira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22" Type="http://schemas.openxmlformats.org/officeDocument/2006/relationships/font" Target="fonts/SairaMedium-bold.fntdata"/><Relationship Id="rId10" Type="http://schemas.openxmlformats.org/officeDocument/2006/relationships/slide" Target="slides/slide6.xml"/><Relationship Id="rId21" Type="http://schemas.openxmlformats.org/officeDocument/2006/relationships/font" Target="fonts/SairaMedium-regular.fntdata"/><Relationship Id="rId13" Type="http://schemas.openxmlformats.org/officeDocument/2006/relationships/slide" Target="slides/slide9.xml"/><Relationship Id="rId24" Type="http://schemas.openxmlformats.org/officeDocument/2006/relationships/font" Target="fonts/SairaMedium-boldItalic.fntdata"/><Relationship Id="rId12" Type="http://schemas.openxmlformats.org/officeDocument/2006/relationships/slide" Target="slides/slide8.xml"/><Relationship Id="rId23" Type="http://schemas.openxmlformats.org/officeDocument/2006/relationships/font" Target="fonts/Saira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913063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solidFill>
            <a:srgbClr val="ECECEC"/>
          </a:solidFill>
          <a:ln cap="rnd" cmpd="sng" w="1905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algn="tl">
              <a:srgbClr val="000000">
                <a:alpha val="41176"/>
              </a:srgbClr>
            </a:outerShdw>
          </a:effectLst>
        </p:spPr>
      </p:pic>
      <p:sp>
        <p:nvSpPr>
          <p:cNvPr id="21" name="Google Shape;21;p4"/>
          <p:cNvSpPr/>
          <p:nvPr/>
        </p:nvSpPr>
        <p:spPr>
          <a:xfrm>
            <a:off x="3865775" y="988998"/>
            <a:ext cx="1796400" cy="261600"/>
          </a:xfrm>
          <a:prstGeom prst="roundRect">
            <a:avLst>
              <a:gd fmla="val 47398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4064524" y="1073899"/>
            <a:ext cx="19614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ML PROJECT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925126" y="2477700"/>
            <a:ext cx="58665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Saira Medium"/>
              <a:buNone/>
            </a:pPr>
            <a:r>
              <a:rPr lang="en-US" sz="29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AIR QUALITY ESTIMATION </a:t>
            </a:r>
            <a:endParaRPr sz="29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Saira Medium"/>
              <a:buNone/>
            </a:pPr>
            <a:r>
              <a:rPr lang="en-US" sz="29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FROM SKY IMAGES</a:t>
            </a:r>
            <a:endParaRPr b="0" i="0" sz="29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925125" y="1460051"/>
            <a:ext cx="5570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0"/>
              <a:buFont typeface="Saira Medium"/>
              <a:buNone/>
            </a:pPr>
            <a:r>
              <a:rPr b="0" i="0" lang="en-US" sz="465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A</a:t>
            </a:r>
            <a:r>
              <a:rPr lang="en-US" sz="46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IRVISION-AI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3925119" y="3747939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Predicting Air Quality Index using Machine Learning, CNNs, and Power BI — for smarter, healthier environments.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4">
            <a:alphaModFix/>
          </a:blip>
          <a:srcRect b="4860" l="0" r="0" t="9507"/>
          <a:stretch/>
        </p:blipFill>
        <p:spPr>
          <a:xfrm>
            <a:off x="114300" y="116618"/>
            <a:ext cx="3200400" cy="4910263"/>
          </a:xfrm>
          <a:prstGeom prst="rect">
            <a:avLst/>
          </a:prstGeom>
          <a:noFill/>
          <a:ln cap="sq" cmpd="thickThin" w="2286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7" name="Google Shape;27;p4"/>
          <p:cNvSpPr txBox="1"/>
          <p:nvPr/>
        </p:nvSpPr>
        <p:spPr>
          <a:xfrm>
            <a:off x="3865768" y="4283363"/>
            <a:ext cx="282341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Developed by: AASHI DIXIT, GAYATRI, SONAM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496119" y="627236"/>
            <a:ext cx="1332086" cy="215354"/>
          </a:xfrm>
          <a:prstGeom prst="roundRect">
            <a:avLst>
              <a:gd fmla="val 47398" name="adj"/>
            </a:avLst>
          </a:prstGeom>
          <a:noFill/>
          <a:ln cap="flat" cmpd="sng" w="9525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581174" y="669727"/>
            <a:ext cx="1619176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C8337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FC8337"/>
                </a:solidFill>
                <a:latin typeface="Roboto"/>
                <a:ea typeface="Roboto"/>
                <a:cs typeface="Roboto"/>
                <a:sym typeface="Roboto"/>
              </a:rPr>
              <a:t>PROJECT OBJECTIVES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96119" y="899294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Saira Medium"/>
              <a:buNone/>
            </a:pPr>
            <a:r>
              <a:rPr lang="en-US" sz="27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Why Air Quality Matters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96119" y="1554882"/>
            <a:ext cx="2290465" cy="1747317"/>
          </a:xfrm>
          <a:prstGeom prst="roundRect">
            <a:avLst>
              <a:gd fmla="val 7302" name="adj"/>
            </a:avLst>
          </a:prstGeom>
          <a:solidFill>
            <a:srgbClr val="030303"/>
          </a:solidFill>
          <a:ln cap="flat" cmpd="sng" w="14275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652165" y="1710928"/>
            <a:ext cx="1978372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🌍</a:t>
            </a: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 Intelligent Monitoring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52165" y="2238896"/>
            <a:ext cx="1978372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Real-time AQI prediction using ML to enable proactive environmental decision-making.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2928342" y="1554882"/>
            <a:ext cx="2290539" cy="1747317"/>
          </a:xfrm>
          <a:prstGeom prst="roundRect">
            <a:avLst>
              <a:gd fmla="val 7302" name="adj"/>
            </a:avLst>
          </a:prstGeom>
          <a:solidFill>
            <a:srgbClr val="030303"/>
          </a:solidFill>
          <a:ln cap="flat" cmpd="sng" w="14275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3084388" y="1710928"/>
            <a:ext cx="19784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🏥</a:t>
            </a: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 Health Assistant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084388" y="2017440"/>
            <a:ext cx="1978447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Pollution detection and outdoor health guidance tailored to individual risk profiles.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96119" y="3443957"/>
            <a:ext cx="4722763" cy="1072232"/>
          </a:xfrm>
          <a:prstGeom prst="roundRect">
            <a:avLst>
              <a:gd fmla="val 11900" name="adj"/>
            </a:avLst>
          </a:prstGeom>
          <a:solidFill>
            <a:srgbClr val="030303"/>
          </a:solidFill>
          <a:ln cap="flat" cmpd="sng" w="14275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52165" y="3600004"/>
            <a:ext cx="441067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📷</a:t>
            </a: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 Image-Based AQI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52165" y="3906515"/>
            <a:ext cx="441067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CNN-powered AQI detection from images, making air quality assessment visual and accessible.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496119" y="389855"/>
            <a:ext cx="611460" cy="107603"/>
          </a:xfrm>
          <a:prstGeom prst="roundRect">
            <a:avLst>
              <a:gd fmla="val 47430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398041" y="160957"/>
            <a:ext cx="8151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Our Data: Understanding the Air We Breathe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963" y="382413"/>
            <a:ext cx="6230898" cy="4493555"/>
          </a:xfrm>
          <a:prstGeom prst="rect">
            <a:avLst/>
          </a:prstGeom>
          <a:noFill/>
          <a:ln>
            <a:noFill/>
          </a:ln>
        </p:spPr>
      </p:pic>
      <p:sp>
        <p:nvSpPr>
          <p:cNvPr descr="preencoded.png" id="54" name="Google Shape;54;p6"/>
          <p:cNvSpPr/>
          <p:nvPr/>
        </p:nvSpPr>
        <p:spPr>
          <a:xfrm>
            <a:off x="496119" y="5143501"/>
            <a:ext cx="4058171" cy="59876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6"/>
          <p:cNvSpPr/>
          <p:nvPr/>
        </p:nvSpPr>
        <p:spPr>
          <a:xfrm>
            <a:off x="614586" y="5391596"/>
            <a:ext cx="3859337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650"/>
              <a:buFont typeface="Saira Medium"/>
              <a:buNone/>
            </a:pPr>
            <a:r>
              <a:rPr lang="en-US" sz="6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10 Features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14586" y="5523534"/>
            <a:ext cx="3859337" cy="59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550"/>
              <a:buFont typeface="Roboto"/>
              <a:buNone/>
            </a:pPr>
            <a:r>
              <a:rPr lang="en-US" sz="5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PM2.5, PM10, CO2, NO2, SO2, CO, Temp, Humidity, Industrial Proximity, Pollution Density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57" name="Google Shape;57;p6"/>
          <p:cNvSpPr/>
          <p:nvPr/>
        </p:nvSpPr>
        <p:spPr>
          <a:xfrm>
            <a:off x="4589711" y="5143500"/>
            <a:ext cx="4058171" cy="59876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6"/>
          <p:cNvSpPr/>
          <p:nvPr/>
        </p:nvSpPr>
        <p:spPr>
          <a:xfrm>
            <a:off x="4708178" y="5391596"/>
            <a:ext cx="3859337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650"/>
              <a:buFont typeface="Saira Medium"/>
              <a:buNone/>
            </a:pPr>
            <a:r>
              <a:rPr lang="en-US" sz="6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Mixed Data Types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708178" y="5523533"/>
            <a:ext cx="3859337" cy="43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550"/>
              <a:buFont typeface="Roboto"/>
              <a:buNone/>
            </a:pPr>
            <a:r>
              <a:rPr lang="en-US" sz="5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Categorical + Numerical features requiring preprocessing and encoding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496119" y="404813"/>
            <a:ext cx="916335" cy="198462"/>
          </a:xfrm>
          <a:prstGeom prst="roundRect">
            <a:avLst>
              <a:gd fmla="val 47414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574477" y="443954"/>
            <a:ext cx="1216819" cy="120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00"/>
              <a:buFont typeface="Roboto"/>
              <a:buNone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496119" y="651421"/>
            <a:ext cx="8151763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aira Medium"/>
              <a:buNone/>
            </a:pPr>
            <a:r>
              <a:rPr lang="en-US" sz="25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From Raw Data to Insights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641" y="1240482"/>
            <a:ext cx="7890644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7002209" y="3367990"/>
            <a:ext cx="1190147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Evaluate &amp; Deploy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5502299" y="3482623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Model Train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010540" y="3482623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Feature Eng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2518781" y="3482623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EDA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994415" y="3482623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Data Prep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496119" y="4336926"/>
            <a:ext cx="8151763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Our pipeline combines rigorous preprocessing with multiple ML algorithms, ultimately selecting the best-performing model for production deployment via Power BI.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/>
        </p:nvSpPr>
        <p:spPr>
          <a:xfrm>
            <a:off x="71312" y="97342"/>
            <a:ext cx="51396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ALGORITHMS USED:</a:t>
            </a:r>
            <a:endParaRPr b="1" sz="3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2050224" y="897763"/>
            <a:ext cx="4608547" cy="308181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Regression 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2050224" y="1378409"/>
            <a:ext cx="4608546" cy="308181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Logistic Regression 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2050225" y="1840680"/>
            <a:ext cx="4608546" cy="308181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 Tree Regressor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2050224" y="2321326"/>
            <a:ext cx="4608546" cy="308181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 Tree Classifier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2112622" y="2807077"/>
            <a:ext cx="4608546" cy="308181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Random Forest Regressor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2112622" y="3269348"/>
            <a:ext cx="4608546" cy="308181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Random Forest Classifier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2112621" y="3731619"/>
            <a:ext cx="4608546" cy="308181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KNN Regressor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2112621" y="4165598"/>
            <a:ext cx="4608546" cy="308181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KNN Classifier</a:t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2112621" y="4599577"/>
            <a:ext cx="4608546" cy="308181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K-Means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/>
          <p:nvPr/>
        </p:nvSpPr>
        <p:spPr>
          <a:xfrm>
            <a:off x="496119" y="410542"/>
            <a:ext cx="1053108" cy="195114"/>
          </a:xfrm>
          <a:prstGeom prst="roundRect">
            <a:avLst>
              <a:gd fmla="val 47410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573137" y="449014"/>
            <a:ext cx="1356271" cy="11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00"/>
              <a:buFont typeface="Roboto"/>
              <a:buNone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MODEL SELECTION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496119" y="652165"/>
            <a:ext cx="8151763" cy="40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aira Medium"/>
              <a:buNone/>
            </a:pPr>
            <a:r>
              <a:rPr lang="en-US" sz="250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The Power of Decision Trees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4780731" y="1402035"/>
            <a:ext cx="3919165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aira Medium"/>
              <a:buNone/>
            </a:pPr>
            <a:r>
              <a:rPr lang="en-US" sz="160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Why Decision Tree Classifier?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780731" y="1951136"/>
            <a:ext cx="4063999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After benchmarking </a:t>
            </a:r>
            <a:r>
              <a:rPr b="1" lang="en-US" sz="12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Random Forest, KNN, Logistic Regression, and K-Means</a:t>
            </a:r>
            <a:r>
              <a:rPr lang="en-US" sz="12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, the Decision Tree emerged as the optimal choice — balancing accuracy, interpretability, and speed.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99" name="Google Shape;99;p9"/>
          <p:cNvSpPr/>
          <p:nvPr/>
        </p:nvSpPr>
        <p:spPr>
          <a:xfrm>
            <a:off x="544264" y="4074468"/>
            <a:ext cx="192658" cy="192658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9"/>
          <p:cNvSpPr/>
          <p:nvPr/>
        </p:nvSpPr>
        <p:spPr>
          <a:xfrm>
            <a:off x="913581" y="4073643"/>
            <a:ext cx="1983475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Handles Mixed Data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 flipH="1">
            <a:off x="943565" y="4302994"/>
            <a:ext cx="1570188" cy="742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Naturally processes both categorical and numerical features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02" name="Google Shape;102;p9"/>
          <p:cNvSpPr/>
          <p:nvPr/>
        </p:nvSpPr>
        <p:spPr>
          <a:xfrm>
            <a:off x="3310012" y="4074468"/>
            <a:ext cx="192658" cy="192658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9"/>
          <p:cNvSpPr/>
          <p:nvPr/>
        </p:nvSpPr>
        <p:spPr>
          <a:xfrm>
            <a:off x="3679329" y="4070524"/>
            <a:ext cx="2202805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Interpretable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3679329" y="4341019"/>
            <a:ext cx="2202805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Transparent decision paths for stakeholder trust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05" name="Google Shape;105;p9"/>
          <p:cNvSpPr/>
          <p:nvPr/>
        </p:nvSpPr>
        <p:spPr>
          <a:xfrm>
            <a:off x="6075759" y="4074468"/>
            <a:ext cx="192658" cy="192658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9"/>
          <p:cNvSpPr/>
          <p:nvPr/>
        </p:nvSpPr>
        <p:spPr>
          <a:xfrm flipH="1">
            <a:off x="6733428" y="4070524"/>
            <a:ext cx="1866308" cy="19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Saira Medium"/>
              <a:buNone/>
            </a:pPr>
            <a:r>
              <a:rPr lang="en-US" sz="12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Python Stack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6740313" y="4341019"/>
            <a:ext cx="2202805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Pandas, Seaborn, Matplotlib, TensorFlow, Scikit-learn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662" y="1172551"/>
            <a:ext cx="4064000" cy="2563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129" y="1371144"/>
            <a:ext cx="3515065" cy="2120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b="0" l="0" r="79222" t="0"/>
          <a:stretch/>
        </p:blipFill>
        <p:spPr>
          <a:xfrm>
            <a:off x="1" y="1"/>
            <a:ext cx="1127760" cy="307713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/>
          <p:nvPr/>
        </p:nvSpPr>
        <p:spPr>
          <a:xfrm>
            <a:off x="3925119" y="389855"/>
            <a:ext cx="971178" cy="215354"/>
          </a:xfrm>
          <a:prstGeom prst="roundRect">
            <a:avLst>
              <a:gd fmla="val 47398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4010174" y="432346"/>
            <a:ext cx="1258267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VISUALIZATION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3925119" y="661913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Saira Medium"/>
              <a:buNone/>
            </a:pPr>
            <a:r>
              <a:rPr lang="en-US" sz="27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Power BI Dashboard: Air Quality in Action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19" name="Google Shape;119;p10"/>
          <p:cNvSpPr/>
          <p:nvPr/>
        </p:nvSpPr>
        <p:spPr>
          <a:xfrm>
            <a:off x="3925119" y="1760488"/>
            <a:ext cx="283518" cy="283518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0"/>
          <p:cNvSpPr/>
          <p:nvPr/>
        </p:nvSpPr>
        <p:spPr>
          <a:xfrm>
            <a:off x="4385816" y="1809155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Interactive AQI Charts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385816" y="2115666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Dynamic visualizations of pollutant levels across regions and time periods.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22" name="Google Shape;122;p10"/>
          <p:cNvSpPr/>
          <p:nvPr/>
        </p:nvSpPr>
        <p:spPr>
          <a:xfrm>
            <a:off x="3925119" y="2852812"/>
            <a:ext cx="283518" cy="283518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10"/>
          <p:cNvSpPr/>
          <p:nvPr/>
        </p:nvSpPr>
        <p:spPr>
          <a:xfrm>
            <a:off x="4385816" y="2901479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Geospatial Mapping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4385816" y="3207990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Pollution density heatmaps correlated with industrial proximity data.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25" name="Google Shape;125;p10"/>
          <p:cNvSpPr/>
          <p:nvPr/>
        </p:nvSpPr>
        <p:spPr>
          <a:xfrm>
            <a:off x="3925119" y="3945136"/>
            <a:ext cx="283518" cy="283518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0"/>
          <p:cNvSpPr/>
          <p:nvPr/>
        </p:nvSpPr>
        <p:spPr>
          <a:xfrm>
            <a:off x="4385816" y="3993803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Real-Time Alerts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385816" y="4300314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Automated thresholds trigger health advisories when AQI exceeds safe limits.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0"/>
          <p:cNvPicPr preferRelativeResize="0"/>
          <p:nvPr/>
        </p:nvPicPr>
        <p:blipFill rotWithShape="1">
          <a:blip r:embed="rId3">
            <a:alphaModFix/>
          </a:blip>
          <a:srcRect b="65916" l="21298" r="49173" t="0"/>
          <a:stretch/>
        </p:blipFill>
        <p:spPr>
          <a:xfrm>
            <a:off x="1127761" y="0"/>
            <a:ext cx="2678430" cy="1828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36001" l="20924" r="40927" t="33057"/>
          <a:stretch/>
        </p:blipFill>
        <p:spPr>
          <a:xfrm>
            <a:off x="1091663" y="1828914"/>
            <a:ext cx="2714528" cy="1248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0"/>
          <p:cNvPicPr preferRelativeResize="0"/>
          <p:nvPr/>
        </p:nvPicPr>
        <p:blipFill rotWithShape="1">
          <a:blip r:embed="rId3">
            <a:alphaModFix/>
          </a:blip>
          <a:srcRect b="301" l="21693" r="20947" t="65339"/>
          <a:stretch/>
        </p:blipFill>
        <p:spPr>
          <a:xfrm>
            <a:off x="0" y="3077135"/>
            <a:ext cx="3806191" cy="2066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/>
          <p:nvPr/>
        </p:nvSpPr>
        <p:spPr>
          <a:xfrm>
            <a:off x="496119" y="420588"/>
            <a:ext cx="1134219" cy="215354"/>
          </a:xfrm>
          <a:prstGeom prst="roundRect">
            <a:avLst>
              <a:gd fmla="val 47398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581174" y="463079"/>
            <a:ext cx="1421309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CORE OBJECTIVES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496119" y="692646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Saira Medium"/>
              <a:buNone/>
            </a:pPr>
            <a:r>
              <a:rPr lang="en-US" sz="27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Pollution Detection &amp; Health Assistant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4324796" y="1489993"/>
            <a:ext cx="432777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Two Pillars of Our Solution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40" name="Google Shape;140;p11"/>
          <p:cNvSpPr/>
          <p:nvPr/>
        </p:nvSpPr>
        <p:spPr>
          <a:xfrm>
            <a:off x="4324796" y="1870918"/>
            <a:ext cx="2092970" cy="269245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1"/>
          <p:cNvSpPr/>
          <p:nvPr/>
        </p:nvSpPr>
        <p:spPr>
          <a:xfrm>
            <a:off x="5264944" y="1962522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1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4485605" y="2457004"/>
            <a:ext cx="1771352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Pollution Detection Engine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485605" y="3041675"/>
            <a:ext cx="1771352" cy="136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Classifies pollution sources and severity using PM2.5, PM10, NO2, SO2, and CO signatures to identify industrial vs. vehicular contributors.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44" name="Google Shape;144;p11"/>
          <p:cNvSpPr/>
          <p:nvPr/>
        </p:nvSpPr>
        <p:spPr>
          <a:xfrm>
            <a:off x="6559525" y="1870918"/>
            <a:ext cx="2093044" cy="269245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1"/>
          <p:cNvSpPr/>
          <p:nvPr/>
        </p:nvSpPr>
        <p:spPr>
          <a:xfrm>
            <a:off x="7499747" y="1962522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2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6720334" y="2457004"/>
            <a:ext cx="1771427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Outdoor Health Assistant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6720334" y="3041675"/>
            <a:ext cx="1771427" cy="136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Translates AQI predictions into actionable health guidance — recommending safe outdoor activity windows for sensitive groups.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621" y="1489993"/>
            <a:ext cx="3833366" cy="3190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/>
          <p:nvPr/>
        </p:nvSpPr>
        <p:spPr>
          <a:xfrm>
            <a:off x="496119" y="428774"/>
            <a:ext cx="1011882" cy="215354"/>
          </a:xfrm>
          <a:prstGeom prst="roundRect">
            <a:avLst>
              <a:gd fmla="val 47398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581174" y="471264"/>
            <a:ext cx="1298972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DEEP LEARNING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96119" y="700832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Saira Medium"/>
              <a:buNone/>
            </a:pPr>
            <a:r>
              <a:rPr lang="en-US" sz="27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AQI Detection from Images Using CNNs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496119" y="2018333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Visual Intelligence for Air Quality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496119" y="2381548"/>
            <a:ext cx="390294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Beyond sensor data, our CNN model analyzes </a:t>
            </a:r>
            <a:r>
              <a:rPr b="1"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sky and landscape images</a:t>
            </a: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to estimate AQI — enabling air quality assessment in areas without physical monitoring stations.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9701" y="1515889"/>
            <a:ext cx="3902943" cy="203440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2"/>
          <p:cNvSpPr/>
          <p:nvPr/>
        </p:nvSpPr>
        <p:spPr>
          <a:xfrm>
            <a:off x="496119" y="3869234"/>
            <a:ext cx="4004965" cy="845418"/>
          </a:xfrm>
          <a:prstGeom prst="roundRect">
            <a:avLst>
              <a:gd fmla="val 15092" name="adj"/>
            </a:avLst>
          </a:prstGeom>
          <a:solidFill>
            <a:srgbClr val="030303"/>
          </a:solidFill>
          <a:ln cap="flat" cmpd="sng" w="14275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/>
          <p:nvPr/>
        </p:nvSpPr>
        <p:spPr>
          <a:xfrm>
            <a:off x="652165" y="4025280"/>
            <a:ext cx="369287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TensorFlow / Keras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652165" y="4331791"/>
            <a:ext cx="369287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Convolutional layers extract visual pollution 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4642842" y="3869234"/>
            <a:ext cx="4005039" cy="845418"/>
          </a:xfrm>
          <a:prstGeom prst="roundRect">
            <a:avLst>
              <a:gd fmla="val 15092" name="adj"/>
            </a:avLst>
          </a:prstGeom>
          <a:solidFill>
            <a:srgbClr val="030303"/>
          </a:solidFill>
          <a:ln cap="flat" cmpd="sng" w="14275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/>
          <p:cNvSpPr/>
          <p:nvPr/>
        </p:nvSpPr>
        <p:spPr>
          <a:xfrm>
            <a:off x="4798888" y="4025280"/>
            <a:ext cx="36929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Image → AQI Class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4798888" y="4331791"/>
            <a:ext cx="369294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Good / Moderate / Unhealthy / Hazardous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/>
        </p:nvSpPr>
        <p:spPr>
          <a:xfrm>
            <a:off x="2406786" y="236895"/>
            <a:ext cx="3387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4000" cy="5103628"/>
          </a:xfrm>
          <a:prstGeom prst="rect">
            <a:avLst/>
          </a:prstGeom>
          <a:noFill/>
          <a:ln cap="sq" cmpd="thickThin" w="2286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/>
          <p:nvPr/>
        </p:nvSpPr>
        <p:spPr>
          <a:xfrm>
            <a:off x="3925119" y="426244"/>
            <a:ext cx="813867" cy="181719"/>
          </a:xfrm>
          <a:prstGeom prst="roundRect">
            <a:avLst>
              <a:gd fmla="val 47394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3996854" y="462111"/>
            <a:ext cx="1127596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50"/>
              <a:buFont typeface="Roboto"/>
              <a:buNone/>
            </a:pPr>
            <a:r>
              <a:rPr lang="en-US" sz="7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FUTURE SCOPE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3925119" y="648295"/>
            <a:ext cx="4722763" cy="747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Saira Medium"/>
              <a:buNone/>
            </a:pPr>
            <a:r>
              <a:rPr lang="en-US" sz="23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Expanding Our Reach &amp; Refinements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4059659" y="1547217"/>
            <a:ext cx="14288" cy="3170039"/>
          </a:xfrm>
          <a:prstGeom prst="roundRect">
            <a:avLst>
              <a:gd fmla="val 753462" name="adj"/>
            </a:avLst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4179912" y="1674614"/>
            <a:ext cx="358825" cy="14288"/>
          </a:xfrm>
          <a:prstGeom prst="roundRect">
            <a:avLst>
              <a:gd fmla="val 753462" name="adj"/>
            </a:avLst>
          </a:prstGeom>
          <a:solidFill>
            <a:srgbClr val="FC8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3925119" y="1547217"/>
            <a:ext cx="269081" cy="269081"/>
          </a:xfrm>
          <a:prstGeom prst="roundRect">
            <a:avLst>
              <a:gd fmla="val 40008" name="adj"/>
            </a:avLst>
          </a:prstGeom>
          <a:solidFill>
            <a:srgbClr val="030303"/>
          </a:solidFill>
          <a:ln cap="flat" cmpd="sng" w="14275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3969953" y="1569653"/>
            <a:ext cx="179412" cy="22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4657725" y="1588294"/>
            <a:ext cx="3990156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Saira Medium"/>
              <a:buNone/>
            </a:pPr>
            <a:r>
              <a:rPr lang="en-US" sz="11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Phase 1 — IoT Integration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657725" y="1835646"/>
            <a:ext cx="3990156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Roboto"/>
              <a:buNone/>
            </a:pPr>
            <a:r>
              <a:rPr lang="en-US" sz="9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Connect real-time sensor networks for live AQI streaming and automated alerts.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4179912" y="2517577"/>
            <a:ext cx="358825" cy="14288"/>
          </a:xfrm>
          <a:prstGeom prst="roundRect">
            <a:avLst>
              <a:gd fmla="val 753462" name="adj"/>
            </a:avLst>
          </a:prstGeom>
          <a:solidFill>
            <a:srgbClr val="FC8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3925119" y="2390180"/>
            <a:ext cx="269081" cy="269081"/>
          </a:xfrm>
          <a:prstGeom prst="roundRect">
            <a:avLst>
              <a:gd fmla="val 40008" name="adj"/>
            </a:avLst>
          </a:prstGeom>
          <a:solidFill>
            <a:srgbClr val="030303"/>
          </a:solidFill>
          <a:ln cap="flat" cmpd="sng" w="14275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3969953" y="2412616"/>
            <a:ext cx="179412" cy="22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4657725" y="2431256"/>
            <a:ext cx="3990156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Saira Medium"/>
              <a:buNone/>
            </a:pPr>
            <a:r>
              <a:rPr lang="en-US" sz="11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Phase 2 — Mobile App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4657725" y="2678609"/>
            <a:ext cx="3990156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Roboto"/>
              <a:buNone/>
            </a:pPr>
            <a:r>
              <a:rPr lang="en-US" sz="9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Deploy a citizen-facing app with personalized health recommendations and image-based AQI scanning.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4179912" y="3360539"/>
            <a:ext cx="358825" cy="14288"/>
          </a:xfrm>
          <a:prstGeom prst="roundRect">
            <a:avLst>
              <a:gd fmla="val 753462" name="adj"/>
            </a:avLst>
          </a:prstGeom>
          <a:solidFill>
            <a:srgbClr val="FC8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3925119" y="3233142"/>
            <a:ext cx="269081" cy="269081"/>
          </a:xfrm>
          <a:prstGeom prst="roundRect">
            <a:avLst>
              <a:gd fmla="val 40008" name="adj"/>
            </a:avLst>
          </a:prstGeom>
          <a:solidFill>
            <a:srgbClr val="030303"/>
          </a:solidFill>
          <a:ln cap="flat" cmpd="sng" w="14275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3969953" y="3255578"/>
            <a:ext cx="179412" cy="22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4657725" y="3274219"/>
            <a:ext cx="3990156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Saira Medium"/>
              <a:buNone/>
            </a:pPr>
            <a:r>
              <a:rPr lang="en-US" sz="11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Phase 3 — Ensemble Models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4657725" y="3521571"/>
            <a:ext cx="3990156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Roboto"/>
              <a:buNone/>
            </a:pPr>
            <a:r>
              <a:rPr lang="en-US" sz="9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Upgrade to Random Forest / XGBoost ensembles for improved accuracy on larger datasets.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4179912" y="4203502"/>
            <a:ext cx="358825" cy="14288"/>
          </a:xfrm>
          <a:prstGeom prst="roundRect">
            <a:avLst>
              <a:gd fmla="val 753462" name="adj"/>
            </a:avLst>
          </a:prstGeom>
          <a:solidFill>
            <a:srgbClr val="FC8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3925119" y="4076105"/>
            <a:ext cx="269081" cy="269081"/>
          </a:xfrm>
          <a:prstGeom prst="roundRect">
            <a:avLst>
              <a:gd fmla="val 40008" name="adj"/>
            </a:avLst>
          </a:prstGeom>
          <a:solidFill>
            <a:srgbClr val="030303"/>
          </a:solidFill>
          <a:ln cap="flat" cmpd="sng" w="14275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3969953" y="4098541"/>
            <a:ext cx="179412" cy="22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Saira Medium"/>
              <a:buNone/>
            </a:pPr>
            <a:r>
              <a:rPr lang="en-US" sz="140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4657725" y="4117181"/>
            <a:ext cx="3990156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Saira Medium"/>
              <a:buNone/>
            </a:pPr>
            <a:r>
              <a:rPr lang="en-US" sz="11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Phase 4 — City-Wide Deployment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4657725" y="4364534"/>
            <a:ext cx="3990156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Roboto"/>
              <a:buNone/>
            </a:pPr>
            <a:r>
              <a:rPr lang="en-US" sz="9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Partner with municipal bodies for smart city integration and policy-level impact.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9005" y="-46647"/>
            <a:ext cx="3996854" cy="522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/>
          <p:nvPr/>
        </p:nvSpPr>
        <p:spPr>
          <a:xfrm>
            <a:off x="3925119" y="441275"/>
            <a:ext cx="507206" cy="137964"/>
          </a:xfrm>
          <a:prstGeom prst="roundRect">
            <a:avLst>
              <a:gd fmla="val 47397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3979590" y="468511"/>
            <a:ext cx="855464" cy="8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550"/>
              <a:buFont typeface="Roboto"/>
              <a:buNone/>
            </a:pPr>
            <a:r>
              <a:rPr lang="en-US" sz="5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3925119" y="602456"/>
            <a:ext cx="4722763" cy="283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Saira Medium"/>
              <a:buNone/>
            </a:pPr>
            <a:r>
              <a:rPr lang="en-US" sz="175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Q&amp;A &amp; Concluding Thoughts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3925119" y="1018803"/>
            <a:ext cx="4722763" cy="29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50"/>
              <a:buFont typeface="Saira Medium"/>
              <a:buNone/>
            </a:pPr>
            <a:r>
              <a:rPr lang="en-US" sz="2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5K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3925119" y="1407542"/>
            <a:ext cx="472276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Saira Medium"/>
              <a:buNone/>
            </a:pPr>
            <a:r>
              <a:rPr lang="en-US" sz="8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Data Rows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3925119" y="1584350"/>
            <a:ext cx="472276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00"/>
              <a:buFont typeface="Roboto"/>
              <a:buNone/>
            </a:pPr>
            <a:r>
              <a:rPr lang="en-US" sz="7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Rich, multi-feature dataset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3925119" y="1865188"/>
            <a:ext cx="4722763" cy="29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50"/>
              <a:buFont typeface="Saira Medium"/>
              <a:buNone/>
            </a:pPr>
            <a:r>
              <a:rPr lang="en-US" sz="2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10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3925119" y="2253928"/>
            <a:ext cx="472276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Saira Medium"/>
              <a:buNone/>
            </a:pPr>
            <a:r>
              <a:rPr lang="en-US" sz="8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Features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3925119" y="2430735"/>
            <a:ext cx="472276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00"/>
              <a:buFont typeface="Roboto"/>
              <a:buNone/>
            </a:pPr>
            <a:r>
              <a:rPr lang="en-US" sz="7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Comprehensive pollution indicators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3925119" y="2711574"/>
            <a:ext cx="4722763" cy="29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50"/>
              <a:buFont typeface="Saira Medium"/>
              <a:buNone/>
            </a:pPr>
            <a:r>
              <a:rPr lang="en-US" sz="2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5+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3925119" y="3100313"/>
            <a:ext cx="472276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Saira Medium"/>
              <a:buNone/>
            </a:pPr>
            <a:r>
              <a:rPr lang="en-US" sz="8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ML Algorithms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3925119" y="3277121"/>
            <a:ext cx="472276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00"/>
              <a:buFont typeface="Roboto"/>
              <a:buNone/>
            </a:pPr>
            <a:r>
              <a:rPr lang="en-US" sz="7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Benchmarked &amp; compared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3925119" y="3557960"/>
            <a:ext cx="4722763" cy="29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50"/>
              <a:buFont typeface="Saira Medium"/>
              <a:buNone/>
            </a:pPr>
            <a:r>
              <a:rPr lang="en-US" sz="23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3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3925119" y="3946699"/>
            <a:ext cx="472276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Saira Medium"/>
              <a:buNone/>
            </a:pPr>
            <a:r>
              <a:rPr lang="en-US" sz="850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Core Objectives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3925119" y="4123506"/>
            <a:ext cx="472276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00"/>
              <a:buFont typeface="Roboto"/>
              <a:buNone/>
            </a:pPr>
            <a:r>
              <a:rPr lang="en-US" sz="7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Monitoring, Health, Vision AI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3925119" y="4308053"/>
            <a:ext cx="4722763" cy="394097"/>
          </a:xfrm>
          <a:prstGeom prst="roundRect">
            <a:avLst>
              <a:gd fmla="val 20740" name="adj"/>
            </a:avLst>
          </a:prstGeom>
          <a:solidFill>
            <a:srgbClr val="7E32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5904" y="4423023"/>
            <a:ext cx="113481" cy="9078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/>
          <p:nvPr/>
        </p:nvSpPr>
        <p:spPr>
          <a:xfrm>
            <a:off x="4220170" y="4388867"/>
            <a:ext cx="4336926" cy="238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lang="en-US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This project demonstrates how Machine Learning, Deep Learning, and Business Intelligence can converge to tackle one of the most pressing environmental challenges of our time — air pollution.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507" y="365475"/>
            <a:ext cx="3458640" cy="4371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